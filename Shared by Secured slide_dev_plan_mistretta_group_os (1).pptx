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24000"/>
            <a:ext cx="12193200" cy="288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52800"/>
            <a:ext cx="12193200" cy="18000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864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GRUPPO MISTRETTA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475999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5D9F0"/>
                </a:solidFill>
                <a:latin typeface="Calibri"/>
              </a:rPr>
              <a:t>Mistretta Group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1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5D9F0"/>
                </a:solidFill>
                <a:latin typeface="Calibri"/>
              </a:rPr>
              <a:t>Piano di Sviluppo · Webapp di Business Intelligence
e Controllo di Gestione multiazienda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3780000"/>
            <a:ext cx="10393200" cy="1655999"/>
          </a:xfrm>
          <a:prstGeom prst="rect">
            <a:avLst/>
          </a:prstGeom>
          <a:solidFill>
            <a:srgbClr val="0F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3924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BBD9"/>
                </a:solidFill>
                <a:latin typeface="Calibri"/>
              </a:rPr>
              <a:t>Sintesi visuale del documento dev_plan_mistretta_group_os.pdf (40 pagine · 11 sezioni)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421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BBD9"/>
                </a:solidFill>
                <a:latin typeface="Calibri"/>
              </a:rPr>
              <a:t>Versione 1.0  ·  Aprile 2026  ·  Riservato e Confidenziale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4464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8B5"/>
                </a:solidFill>
                <a:latin typeface="Calibri"/>
              </a:rPr>
              <a:t>Destinatari: Famiglia Mistretta · Direzione · Consulenti tecnici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4716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8B5"/>
                </a:solidFill>
                <a:latin typeface="Calibri"/>
              </a:rPr>
              <a:t>Autore: Direzione Tecnica &amp; Controllo di Gestione – Gruppo Mistretta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502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98B5"/>
                </a:solidFill>
                <a:latin typeface="Calibri"/>
              </a:rPr>
              <a:t>Società in perimetro: Secured Solutions Srl · DZ Costruzioni Srl  (future Holding · Nexa Engineering)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552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8B5"/>
                </a:solidFill>
                <a:latin typeface="Calibri"/>
              </a:rPr>
              <a:t>Rif. §0 — Copertina  ·  sintesi del documento PDF (40 pp · 11 sezioni)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11 sezioni del documento di sviluppo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§0 — Indice generale (pp. 1-2)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260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260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999" y="1278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999" y="1458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3-6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782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1782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999" y="1800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Fotografia delle fonti dati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999" y="1980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7-11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304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304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999" y="2322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Master Chart of Accounts (CoA)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999" y="2502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12-14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2826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2826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999" y="2844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Database Design (SQLite)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999" y="3024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15-20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3348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3348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999" y="3366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Flussi ETL per fonte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999" y="3546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21-23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3870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3870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999" y="3888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Motori di calcolo (Engine)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999" y="4068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24-29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000" y="1260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000" y="1260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278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UI/UX e scelta tecnologica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458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30-33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000" y="1782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000" y="1782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800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Piano di sviluppo per 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1980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34-37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000" y="2304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000" y="2304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322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Criticità trasversali e rischi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502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38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0000" y="2826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000" y="2826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844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Roadmap, effort totale e next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024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39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000" y="3348000"/>
            <a:ext cx="468000" cy="36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000" y="3348000"/>
            <a:ext cx="46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366000"/>
            <a:ext cx="500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Allegati (Glossario, Riferimenti)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3546000"/>
            <a:ext cx="50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6464"/>
                </a:solidFill>
                <a:latin typeface="Calibri"/>
              </a:rPr>
              <a:t>p.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Punto di partenza finanziario e raccomandazione di sintesi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§1.5 — Raccomandazione finale (Executive Summary)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44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KPI Secured Solutions Srl — Esercizio 2025 (bilancio approvato)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332000"/>
            <a:ext cx="2772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00" y="1332000"/>
            <a:ext cx="2772000" cy="5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1404000"/>
            <a:ext cx="26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6464"/>
                </a:solidFill>
                <a:latin typeface="Calibri"/>
              </a:rPr>
              <a:t>Ricavi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1566000"/>
            <a:ext cx="27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Calibri"/>
              </a:rPr>
              <a:t>€ 1.886.764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1890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6464"/>
                </a:solidFill>
                <a:latin typeface="Calibri"/>
              </a:rPr>
              <a:t>+8,3% vs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4000" y="1332000"/>
            <a:ext cx="2772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4000" y="1332000"/>
            <a:ext cx="2772000" cy="5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8000" y="1404000"/>
            <a:ext cx="26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6464"/>
                </a:solidFill>
                <a:latin typeface="Calibri"/>
              </a:rPr>
              <a:t>EBITDA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0" y="1566000"/>
            <a:ext cx="27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2E6FB7"/>
                </a:solidFill>
                <a:latin typeface="Calibri"/>
              </a:rPr>
              <a:t>€ 291.438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0" y="1890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6464"/>
                </a:solidFill>
                <a:latin typeface="Calibri"/>
              </a:rPr>
              <a:t>15,45% sui ricavi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0" y="1332000"/>
            <a:ext cx="2772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0000" y="1332000"/>
            <a:ext cx="2772000" cy="54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3999" y="1404000"/>
            <a:ext cx="26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6464"/>
                </a:solidFill>
                <a:latin typeface="Calibri"/>
              </a:rPr>
              <a:t>PFN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000" y="1566000"/>
            <a:ext cx="27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7A3C"/>
                </a:solidFill>
                <a:latin typeface="Calibri"/>
              </a:rPr>
              <a:t>€ 224.759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6000" y="1890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6464"/>
                </a:solidFill>
                <a:latin typeface="Calibri"/>
              </a:rPr>
              <a:t>PFN/EBITDA = 0,77×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6000" y="1332000"/>
            <a:ext cx="2772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6000" y="1332000"/>
            <a:ext cx="2772000" cy="54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0000" y="1404000"/>
            <a:ext cx="26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6464"/>
                </a:solidFill>
                <a:latin typeface="Calibri"/>
              </a:rPr>
              <a:t>Utile netto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000" y="1566000"/>
            <a:ext cx="2700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A7A3C"/>
                </a:solidFill>
                <a:latin typeface="Calibri"/>
              </a:rPr>
              <a:t>€ 125.964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000" y="1890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6464"/>
                </a:solidFill>
                <a:latin typeface="Calibri"/>
              </a:rPr>
              <a:t>ROE 23,05%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2448000"/>
            <a:ext cx="11617200" cy="122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00" y="2448000"/>
            <a:ext cx="64800" cy="1224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000" y="2520000"/>
            <a:ext cx="11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  <a:latin typeface="Calibri"/>
              </a:rPr>
              <a:t>RACCOMANDAZIONE FINALE (§1.5)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2718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Software fattibile e raccomandato. Ruolo del nuovo sistema: creare il livello di consolidamento e quadratura che oggi manca, riportando in un unico cruscotto KPI di scenario e KPI operativi.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3348000"/>
            <a:ext cx="113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Effort stimato: 125-155 giorni-uomo su 6-8 mesi  ·  Go-live MVP a fine Step 4 (~Q4 2026).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3851999"/>
            <a:ext cx="11617200" cy="108000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000" y="3924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DZ Costruzioni Srl — Esercizio 2025 (BOZZA, in attesa approvazione)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0000" y="3906000"/>
            <a:ext cx="2015999" cy="25199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0000" y="3906000"/>
            <a:ext cx="2015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BOZZA in discussione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00" y="4158000"/>
            <a:ext cx="11340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3A6B"/>
                </a:solidFill>
                <a:latin typeface="Calibri"/>
              </a:rPr>
              <a:t>• Ricavi 2025 BOZZA:  </a:t>
            </a: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  € 33.671 (anno-ponte di transizione, no nuovi cantieri)</a:t>
            </a:r>
          </a:p>
          <a:p>
            <a:r>
              <a:rPr sz="1100" b="1">
                <a:solidFill>
                  <a:srgbClr val="1B3A6B"/>
                </a:solidFill>
                <a:latin typeface="Calibri"/>
              </a:rPr>
              <a:t>• Perdita 2025 BOZZA:  </a:t>
            </a: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  -€ 82.923 (PN residuo € 42.098)</a:t>
            </a:r>
          </a:p>
          <a:p>
            <a:r>
              <a:rPr sz="1100" b="1">
                <a:solidFill>
                  <a:srgbClr val="1B3A6B"/>
                </a:solidFill>
                <a:latin typeface="Calibri"/>
              </a:rPr>
              <a:t>• Vincolo:  </a:t>
            </a: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  art. 2482-bis/ter c.c. attivabile se nel 2026 nuova perdita &gt; € 10k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" y="5022000"/>
            <a:ext cx="11617200" cy="702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000" y="505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Cornice strategica: Progetto di Riorganizzazione Aziendale ver. 4.12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20000" y="5040000"/>
            <a:ext cx="2015999" cy="25199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00" y="5040000"/>
            <a:ext cx="2015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BOZZA in discussione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5292000"/>
            <a:ext cx="11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Passaggio dall'attuale assetto Secured + DZ verso un Gruppo strutturato Holding + Secured + DZ + Nexa.  Il software è il sistema informativo a supporto della riorganizzazione.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Cornice strategica e vincoli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Quattro pilastri della riorganizzazione e quattro entità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§1.1 — Cornice strategica di riferimento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0000" y="1062000"/>
            <a:ext cx="2015999" cy="25199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0000" y="1062000"/>
            <a:ext cx="2015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Riorg. 4.12 BOZZA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08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I 4 pilastri del Progetto di Riorganizzazione 4.12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386000"/>
            <a:ext cx="558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00" y="1386000"/>
            <a:ext cx="64800" cy="936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1440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1. Separazione progettazione / esecuzione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1692000"/>
            <a:ext cx="53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D.Lgs. 36/2023: la progettazione iniziale non può essere affidata all'operatore che esegue → new-co Nexa di progettazione.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2412000"/>
            <a:ext cx="558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00" y="2412000"/>
            <a:ext cx="64800" cy="936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000" y="2466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2. Conformità docenti universitari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" y="2718000"/>
            <a:ext cx="53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Art. 6 L. 240/2010: incompatibilità assoluta cariche gestorie con rapporto di lavoro a tempo pieno → modifica organi Secured/DZ.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3438000"/>
            <a:ext cx="558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00" y="3438000"/>
            <a:ext cx="64800" cy="936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00" y="3492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3. Ottimizzazione fiscale e previdenziale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" y="3744000"/>
            <a:ext cx="53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Riduzione IRES, IRAP e contributi per società del Gruppo e per soci/amministratori.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4464000"/>
            <a:ext cx="558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00" y="4464000"/>
            <a:ext cx="64800" cy="936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000" y="4518000"/>
            <a:ext cx="53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4. Tesoreria di Gruppo + Holding familiare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0" y="4770000"/>
            <a:ext cx="53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Protezione patrimonio familiare, pianificazione passaggio generazionale tramite Holding (regime PEX 95%).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0" y="108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Le 4 entità target del Gruppo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1386000"/>
            <a:ext cx="576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0000" y="1386000"/>
            <a:ext cx="64800" cy="93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8000" y="1440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HOLDING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00" y="1440000"/>
            <a:ext cx="20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1">
                <a:solidFill>
                  <a:srgbClr val="646464"/>
                </a:solidFill>
                <a:latin typeface="Calibri"/>
              </a:rPr>
              <a:t>(eventuale)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8000" y="1692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Conferimento quote · regime PEX (esenzione 95% dividendi)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0000" y="2412000"/>
            <a:ext cx="576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0000" y="2412000"/>
            <a:ext cx="64800" cy="936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8000" y="246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FB7"/>
                </a:solidFill>
                <a:latin typeface="Calibri"/>
              </a:rPr>
              <a:t>SECURED SOLUTIONS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00" y="2466000"/>
            <a:ext cx="20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1">
                <a:solidFill>
                  <a:srgbClr val="646464"/>
                </a:solidFill>
                <a:latin typeface="Calibri"/>
              </a:rPr>
              <a:t>Operativa oggi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8000" y="2718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AU Aldo Mistretta · resp. tecnico Fausto · soci Fausto 70% + Giulio Pisu 30%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0000" y="3438000"/>
            <a:ext cx="576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0000" y="3438000"/>
            <a:ext cx="64800" cy="93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8000" y="3492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DZ COSTRUZIONI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00" y="3492000"/>
            <a:ext cx="20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1">
                <a:solidFill>
                  <a:srgbClr val="646464"/>
                </a:solidFill>
                <a:latin typeface="Calibri"/>
              </a:rPr>
              <a:t>Riorganizzazione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8000" y="3744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AU Stefano Zuddas · soci Liaca Srl 50% + Fausto Mistretta 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0000" y="4464000"/>
            <a:ext cx="5760000" cy="93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0000" y="4464000"/>
            <a:ext cx="64800" cy="936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8000" y="4518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  <a:latin typeface="Calibri"/>
              </a:rPr>
              <a:t>NEXA ENGINEERING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0000" y="4518000"/>
            <a:ext cx="20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1">
                <a:solidFill>
                  <a:srgbClr val="646464"/>
                </a:solidFill>
                <a:latin typeface="Calibri"/>
              </a:rPr>
              <a:t>Newco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28000" y="4770000"/>
            <a:ext cx="5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Società di Ingegneria · soci Aldo 34% + Eugenio 33% + Coniuge 33% · solo contrib. Inarcassa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Volumetria dati operativi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Perimetro reale calcolato sui file CSV/XLSX allegati al T0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§1.3 — Volumetria reale dei dati operativi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1080000"/>
          <a:ext cx="116172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  <a:gridCol w="1440000"/>
                <a:gridCol w="6217200"/>
              </a:tblGrid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Record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Note dimensionamento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Opportunità (Airtable)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anni 2024-2026; 6 stati; 151 vinte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Preventivi (Airtable)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267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di cui 157 accettati per € 1.875.746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Commesse (Airtable)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anni 2020-2026; 7 stati operativi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Voci di Computo (Airtable)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498 codici unici (es. VCP413.2022133)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Dettagli Costi (Airtable)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2.253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€ 785.593 aggregati per 4 categorie (Manod./Mater./Subap./Altro)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Rate Pagamento (Airtable)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642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fatturate / pianificate / saldate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Projects (ClickUp)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13 space + 239 folder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Team Members (ClickUp)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34 attivi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76363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Budget 2026 (XLSX TeamSystem)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2.904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22 dipendenti, € 865.609 a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7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Controllo Gestione (XLSX)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17 fogli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5 categorie funzionali (CT/DB/EXP/BDG/UTS)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88000" y="5382000"/>
            <a:ext cx="11617200" cy="702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5436000"/>
            <a:ext cx="1134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Coerenza Preventivi-Bilancio: somma preventivi accettati € 1.875.746 vs Ricavi Secured 2025 € 1.886.764 = delta -0,6%. Ottima quadratura macro: la pipeline Airtable è la fonte primaria del fatturato annuale.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Criticità rilevate sui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Punti di attenzione per ETL e qualità dato (azioni già pianificate)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§1.4 — Principali criticità rilevate sui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080000"/>
            <a:ext cx="11617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080000"/>
            <a:ext cx="90000" cy="91799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152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Bug rollup Airtable nei costi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422000"/>
            <a:ext cx="1116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Campo aggregato Total = € 3.549.889, anomalo di ~2 ordini di grandezza vs reali € 785.593. L'ETL deve scartare il rollup e ricostruire la somma dalle 4 categorie elementari (Manodopera/Materiali/Subappalti/Altro).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070000"/>
            <a:ext cx="11617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2070000"/>
            <a:ext cx="90000" cy="91799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2142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Date mancanti sui costi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412000"/>
            <a:ext cx="1116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1.326 righe di costo su 2.253 (≈59%) non hanno valorizzato data_costo. Senza data non è possibile mensilizzare il consuntivo: serve flag di review e default policy.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060000"/>
            <a:ext cx="11617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3060000"/>
            <a:ext cx="90000" cy="91799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3131999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Importi italiani veicolati come stringhe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3401999"/>
            <a:ext cx="1116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Tutti i CSV Airtable usano formato '€60000,00' o '€2.629,86'. Servono parser dedicati ed idempotenti, centralizzati in libreria condivisa.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050000"/>
            <a:ext cx="11617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4050000"/>
            <a:ext cx="90000" cy="917999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4121999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B7"/>
                </a:solidFill>
                <a:latin typeface="Calibri"/>
              </a:rPr>
              <a:t>Doppi spazi nei codici / nomi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4392000"/>
            <a:ext cx="1116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Codifiche tipo '2024056  -2024056_ETC_…' con doppio spazio: serve normalizzazione canonica al momento dell'import.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5040000"/>
            <a:ext cx="11617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00" y="5040000"/>
            <a:ext cx="90000" cy="91799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" y="5112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DZ 2025 BOZZA + oneri finanziari Secured negativi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5382000"/>
            <a:ext cx="1116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Numeri DZ 2025 da bilancio non approvato → marker BOZZA in UI fino all'approvazione. Oneri finanziari Secured 2024/2025 negativi nel calcolo upstream (€-215, €-295): da chiarire prima del go-live commerciale.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Fonti dati del Gruppo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Sistemi sorgente attuali e perimetro di estensione futura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§2.1 — Sistemi sorgente del Gruppo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1080000"/>
          <a:ext cx="116172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320000"/>
                <a:gridCol w="2700000"/>
                <a:gridCol w="2617200"/>
              </a:tblGrid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Dominio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Società oggi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Estensione futura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TeamSystem (EXP)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Contabilità generale, Cespiti, Scadenzario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Secured 2025+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DZ, Nexa, Holding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Vecchio software 2023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Contabilità generale (storico)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Secured 2023-2024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Solo lettura (storico immutato)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Airtable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CRM Opportunità · Preventivi · Commesse · VDC · Costi ·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Secured (tutte le BU)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Da estendere a DZ e Nexa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ClickUp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Task, project management, timesheet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Secured + parz. DZ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Tutti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JetHR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Payroll mensile, costo del lavoro per centro di costo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Secured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DZ, Nexa quando avranno organico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XLSX manuali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Budget annuale, Controllo Gestione mensile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Secured (Excel CFO)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Da migrare progressivamente nel software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PDF bilanci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Documenti ufficiali approvati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Tutte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Inserimento normalizzato nel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88000" y="4860000"/>
            <a:ext cx="11617200" cy="1296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4914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Quadratura macro Preventivi → Ricavi (§2.2)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130000"/>
            <a:ext cx="1116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3A6B"/>
                </a:solidFill>
                <a:latin typeface="Calibri"/>
              </a:rPr>
              <a:t>• Pipeline Airtable Preventivi:  </a:t>
            </a: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  267 record (157 accettati = € 1.875.746)</a:t>
            </a:r>
          </a:p>
          <a:p>
            <a:r>
              <a:rPr sz="1100" b="1">
                <a:solidFill>
                  <a:srgbClr val="1B3A6B"/>
                </a:solidFill>
                <a:latin typeface="Calibri"/>
              </a:rPr>
              <a:t>• Ricavi Secured 2025 da bilancio:  </a:t>
            </a: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  € 1.886.764  →  delta -0,6%, ottima quadratura macro</a:t>
            </a:r>
          </a:p>
          <a:p>
            <a:r>
              <a:rPr sz="1100" b="1">
                <a:solidFill>
                  <a:srgbClr val="1B3A6B"/>
                </a:solidFill>
                <a:latin typeface="Calibri"/>
              </a:rPr>
              <a:t>• Conseguenza:  </a:t>
            </a:r>
          </a:p>
          <a:p>
            <a:r>
              <a:rPr sz="1100" b="0">
                <a:solidFill>
                  <a:srgbClr val="1A1A1A"/>
                </a:solidFill>
                <a:latin typeface="Calibri"/>
              </a:rPr>
              <a:t>  Airtable è la fonte primaria del fatturato annuale Secured.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Master CoA &amp;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Piano dei conti universale a 4 livelli + schema SQLite multiazienda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§3 e §4 — Master Chart of Accounts e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Codifica gerarchica XX.XX.XX.XXX (§3.1)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386000"/>
            <a:ext cx="5580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00" y="1386000"/>
            <a:ext cx="64800" cy="90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999" y="144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Liv. 1 — Macro-classe (2 cifre)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999" y="1674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10 Attivo · 20 Passivo · 30 Ricavi · 40 Costi op. · 50 Personale · 60 Finanziari · 70 Imposte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358000"/>
            <a:ext cx="5580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2358000"/>
            <a:ext cx="64800" cy="90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999" y="2412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Liv. 2 — Classe (2 cifre)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9" y="2646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es. 30.10 Ricavi caratteristici · 40.10 Materie prime · 40.20 Servizi · 40.30 Godimento beni terzi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3330000"/>
            <a:ext cx="5580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00" y="3330000"/>
            <a:ext cx="64800" cy="90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3999" y="3384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Liv. 3 — Categoria (2 cifre)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999" y="3618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es. 30.10.01 BU Progettazione · 30.10.02 BU Laboratorio · 40.20.05 Subappalti tecnici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4302000"/>
            <a:ext cx="5580000" cy="9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00" y="4302000"/>
            <a:ext cx="64800" cy="900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3999" y="4356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Liv. 4 — Conto operativo (3 cifre)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999" y="4590000"/>
            <a:ext cx="54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drill-down al singolo movimento (es. 30.10.01.001 Ricavi vendita progettazione strutturale)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5220000"/>
            <a:ext cx="5580000" cy="917999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5274000"/>
            <a:ext cx="543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Catch-all 99.99.99.999 'Da riclassificare' + flag review_required: ogni voce sorgente non mappata viene segnalata al CFO. Zero righe in catch-all = chiusura mensile abilitata.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0" y="1080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Blocchi DDL del database SQLite (§4.2-§4.6)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1386000"/>
            <a:ext cx="5760000" cy="72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0000" y="1386000"/>
            <a:ext cx="64800" cy="72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6000" y="1440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§4.2  Anagrafica &amp; CoA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6000" y="1674000"/>
            <a:ext cx="55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Aziende · Esercizi · MasterCoA · MappingCoA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0000" y="2178000"/>
            <a:ext cx="5760000" cy="72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0000" y="2178000"/>
            <a:ext cx="64800" cy="72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6000" y="2232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§4.3  Contabilità Generale (G/L)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6000" y="2466000"/>
            <a:ext cx="55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ScrittureContabili · RigheScrittura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0000" y="2970000"/>
            <a:ext cx="5760000" cy="72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0000" y="2970000"/>
            <a:ext cx="64800" cy="72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6000" y="3024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§4.4  Contabilità Analitica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000" y="3258000"/>
            <a:ext cx="55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Commesse · VociComputo · DettagliCosti · Ordini · RatePagamento (→VDC)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0000" y="3761999"/>
            <a:ext cx="5760000" cy="72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0000" y="3761999"/>
            <a:ext cx="64800" cy="72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6000" y="3816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§4.5  Pipeline &amp; Personale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6000" y="4050000"/>
            <a:ext cx="55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Opportunita · Preventivi · Personale · Timesheet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0000" y="4553999"/>
            <a:ext cx="5760000" cy="72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0000" y="4553999"/>
            <a:ext cx="64800" cy="72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6000" y="4608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§4.6  Engine, Snapshot, Intercompany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6000" y="4842000"/>
            <a:ext cx="55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RegoleAccrual · SnapshotMensili · IntercompanyLinks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0000" y="5346000"/>
            <a:ext cx="5760000" cy="792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2000" y="5400000"/>
            <a:ext cx="5652000" cy="7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Multiazienda by design: id_azienda obbligatorio in tutte le tabelle transazionali. Tabella IntercompanyLinks predisposta per il consolidamento di Gruppo (Holding + Secured + DZ + Nexa).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Flussi ETL per fonte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Sei pipeline idempotenti con quadratura post-import e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§5 — Flussi ETL per fonte (§5.8 tabella riassuntiva)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1080000"/>
          <a:ext cx="11617199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220000"/>
                <a:gridCol w="1620000"/>
                <a:gridCol w="2160000"/>
                <a:gridCol w="2077199"/>
              </a:tblGrid>
              <a:tr h="43714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ETL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Frequenza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Owner operativo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37142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TeamSystem EXP (Primanota, Sit. Contabile, Scadenzari)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Mensile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Manuale post-chiusura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Amministrazione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142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Airtable — 6 tabelle (Opp. · Prev. · Commesse · VDC · Costi+Rate · Ordini)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Notturno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Schedulato API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37142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ClickUp (Projects + Team Members + Timesheet)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Giornaliero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Schedulato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142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JetHR (Payroll mensile per dipendente × CdC)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Mensile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Post-cedolini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HR / Amministrazione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37142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PDF bilanci storici (Secured + DZ 2023-2025)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Una tantum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Manuale assistito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148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XLSX Budget 2026 + Controllo Gestione (17 fogli CT/DB/EXP/BDG/UTS)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Mensile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Manuale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88000" y="4320000"/>
            <a:ext cx="5652000" cy="18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4374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Tre principi comuni (§5.1)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4608000"/>
            <a:ext cx="550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3A6B"/>
                </a:solidFill>
                <a:latin typeface="Calibri"/>
              </a:rPr>
              <a:t>• Idempotenza: 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rieseguibili senza duplicare (UPSERT su id_origine)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Quadratura post-import: 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controlli automatici (Dare = Avere, totali CE)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Logging dettagliato: 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tracciabilità completa + tabella di quarantena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999" y="4320000"/>
            <a:ext cx="5652000" cy="1800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4374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Regole di parsing centralizzate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000" y="4608000"/>
            <a:ext cx="550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3A6B"/>
                </a:solidFill>
                <a:latin typeface="Calibri"/>
              </a:rPr>
              <a:t>• Importi italiani: 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parser '€60000,00' / '€2.629,86' / numerico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Date: 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normalizzazione ISO YYYY-MM-DD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Codici tecnici: 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trim, collasso spazi multipli, uppercase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Costi senza data (1.326): 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importati con flag review_required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Motori di calcolo (Engine)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Tre engine per accrual, riconciliazione e proiezioni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§6 — Motori di calcolo (Accrual / Recon / Forecast)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080000"/>
            <a:ext cx="3798000" cy="486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080000"/>
            <a:ext cx="3798000" cy="5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1188000"/>
            <a:ext cx="379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ACCRUAL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440000"/>
            <a:ext cx="37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6464"/>
                </a:solidFill>
                <a:latin typeface="Calibri"/>
              </a:rPr>
              <a:t>Competenza reale (WIP / Rimanenze)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692000"/>
            <a:ext cx="351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6B"/>
                </a:solidFill>
                <a:latin typeface="Calibri"/>
              </a:rPr>
              <a:t>Cos'è (§6.1)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Calcola la competenza reale a livello di singola VDC; Rate (SAL/fatture) e Ordini sono agganciati alla VDC per monitorare il triplice gap di gestione.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1B3A6B"/>
                </a:solidFill>
                <a:latin typeface="Calibri"/>
              </a:rPr>
              <a:t>Formule chiave (per VDC e aggregate)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Ricavo maturato = VDC.imp × VDC.%avanz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Costo maturato = Σ DettagliCosti per VDC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SAL maturato = Σ Rate(SAL) + Ordini cliente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SAL fatturato = Σ Rate(FATTURA) per VDC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1B3A6B"/>
                </a:solidFill>
                <a:latin typeface="Calibri"/>
              </a:rPr>
              <a:t>Tre gap monitorati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Ricavo maturato − SAL maturato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SAL maturato − SAL fatturato (WIP)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Costo maturato − Ricavo maturato (margine)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1B3A6B"/>
                </a:solidFill>
                <a:latin typeface="Calibri"/>
              </a:rPr>
              <a:t>Esempio reale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Commessa 2023106 EDILZETA Catania: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Imponibile: € 113.472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Fatturato: € 103.895  ·  WIP: € 9.577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6000" y="1080000"/>
            <a:ext cx="3798000" cy="486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6000" y="1080000"/>
            <a:ext cx="3798000" cy="5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6000" y="1188000"/>
            <a:ext cx="379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FB7"/>
                </a:solidFill>
                <a:latin typeface="Calibri"/>
              </a:rPr>
              <a:t>RECON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6000" y="1440000"/>
            <a:ext cx="37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6464"/>
                </a:solidFill>
                <a:latin typeface="Calibri"/>
              </a:rPr>
              <a:t>Quadratura Generale vs Analitica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000" y="1692000"/>
            <a:ext cx="351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6B"/>
                </a:solidFill>
                <a:latin typeface="Calibri"/>
              </a:rPr>
              <a:t>Cos'è (§6.2)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Confronta margini bottom-up (somma commesse) con EBITDA top-down dal G/L. Espone il Delta Costi Non Allocati.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1B3A6B"/>
                </a:solidFill>
                <a:latin typeface="Calibri"/>
              </a:rPr>
              <a:t>Esempio Secured 2025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Margini diretti BU Prog.:   € 677.155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Margini diretti BU Lab.:    € 237.459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Σ margini bottom-up:        € 914.614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EBITDA top-down (15,45%):   € 291.438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Delta = costi struttura:    € 623.176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1B3A6B"/>
                </a:solidFill>
                <a:latin typeface="Calibri"/>
              </a:rPr>
              <a:t>Conseguenza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Il Delta è il bacino dei costi comuni (sede, staff centrale, ammortamenti, IT). Sotto-ripartibile con driver.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4000" y="1080000"/>
            <a:ext cx="3798000" cy="486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4000" y="1080000"/>
            <a:ext cx="3798000" cy="54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4000" y="1188000"/>
            <a:ext cx="379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  <a:latin typeface="Calibri"/>
              </a:rPr>
              <a:t>FORECAST &amp; SCENARIO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000" y="1440000"/>
            <a:ext cx="37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6464"/>
                </a:solidFill>
                <a:latin typeface="Calibri"/>
              </a:rPr>
              <a:t>Proiezioni 12m rolling + 5 anni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8000" y="1692000"/>
            <a:ext cx="351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6B"/>
                </a:solidFill>
                <a:latin typeface="Calibri"/>
              </a:rPr>
              <a:t>Cos'è (§6.3)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Genera proiezioni a 12 mesi rolling e a 5 anni in 3 scenari (Prudente, Base, Espansivo).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1B3A6B"/>
                </a:solidFill>
                <a:latin typeface="Calibri"/>
              </a:rPr>
              <a:t>Driver di scenario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A — Pipeline Opportunità (probability-weighted)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B — EBITDA% (target progressivo)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C — CapEx parametrico per anno e BU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D — PFN (cassa attesa / piano mutui)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00" b="1">
                <a:solidFill>
                  <a:srgbClr val="1B3A6B"/>
                </a:solidFill>
                <a:latin typeface="Calibri"/>
              </a:rPr>
              <a:t>Output Base Gruppo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2026: ricavi € 2,32 M · EBITDA € 335 k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• 2030: ricavi € 4,52 M · EBITDA € 693 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Proiezioni 2026-2030 e scenari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Output del Forecast Engine (riusati senza ricalcolo dal Piano Strategico)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§6.3 — Output prospettici e Scenari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62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Scenario Base — proiezioni Gruppo per anno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8000" y="1296000"/>
          <a:ext cx="11617199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980000"/>
                <a:gridCol w="2160000"/>
                <a:gridCol w="1440000"/>
                <a:gridCol w="1440000"/>
                <a:gridCol w="1800000"/>
                <a:gridCol w="1897199"/>
              </a:tblGrid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Anno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Secured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EBITDA Secured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DZ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Nexa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Gruppo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EBITDA Gruppo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€ 1.999.970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€ 318.995 (15,9%)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€ 320.000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€ 2.319.970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€ 334.995 (14,4%)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€ 2.119.968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€ 348.735 (16,4%)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€ 580.000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€ 400.000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€ 3.099.968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€ 423.535 (13,7%)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€ 2.247.166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€ 380.895 (16,9%)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€ 800.000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€ 612.000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€ 3.659.166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€ 528.695 (14,4%)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€ 2.359.524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€ 411.737 (17,4%)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€ 960.000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€ 780.000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€ 4.099.524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€ 608.537 (14,8%)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1A1A1A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€ 2.477.500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€ 444.711 (17,9%)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€ 1.100.000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€ 940.000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€ 4.517.500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€ 692.711 (15,3%)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8000" y="3780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Scenari 2030 a confronto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88000" y="4014000"/>
          <a:ext cx="116172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980000"/>
                <a:gridCol w="1620000"/>
                <a:gridCol w="1980000"/>
                <a:gridCol w="1980000"/>
                <a:gridCol w="2617200"/>
              </a:tblGrid>
              <a:tr h="405000"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Secured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EBITDA% Secured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DZ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Nexa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Ricavi Gruppo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1A1A1A"/>
                          </a:solidFill>
                          <a:latin typeface="Calibri"/>
                        </a:rPr>
                        <a:t>Prudente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€ 2.190.000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16,5%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€ 800.000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100">
                          <a:solidFill>
                            <a:srgbClr val="1B3A6B"/>
                          </a:solidFill>
                          <a:latin typeface="Calibri"/>
                        </a:rPr>
                        <a:t>€ 3.590.000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1B3A6B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€ 2.477.500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17,9%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€ 1.100.000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€ 940.000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100">
                          <a:solidFill>
                            <a:srgbClr val="1B3A6B"/>
                          </a:solidFill>
                          <a:latin typeface="Calibri"/>
                        </a:rPr>
                        <a:t>€ 4.517.500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1A1A1A"/>
                          </a:solidFill>
                          <a:latin typeface="Calibri"/>
                        </a:rPr>
                        <a:t>Espansivo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€ 3.040.000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19,0%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€ 1.400.000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€ 1.200.000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b="1" sz="1100">
                          <a:solidFill>
                            <a:srgbClr val="1B3A6B"/>
                          </a:solidFill>
                          <a:latin typeface="Calibri"/>
                        </a:rPr>
                        <a:t>€ 5.640.000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88000" y="5706000"/>
            <a:ext cx="11617200" cy="503999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5742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Tutti i numeri sono ripresi 1:1 dalla pianificazione strategica già condivisa con la famiglia (calcoli_gruppo_mistretta.txt §5 e §8). Lo scenario Base è quello che il Forecast Engine deve riprodurre by-design.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UI/UX e scelta tecnologica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Confronto Streamlit vs React+FastAPI e mappa delle 6 sezioni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§7 — UI/UX e scelta tecnologica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62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Confronto sintetico (§7.2)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8000" y="1296000"/>
          <a:ext cx="63000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800000"/>
                <a:gridCol w="1980000"/>
              </a:tblGrid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React + FastAPI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Time-to-market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1-2 settimane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8-12 settimane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Costo sviluppo iniziale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~30 gg-uomo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~80 gg-uomo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UX / design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Vincolato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Totalmente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Drill-down avanzato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Limitato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Eccellente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Manutenibilità da 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Bassa (serve dev 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Auth / Multi-tenancy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Sufficiente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Industriale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825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Costo annuo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≤ € 600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€ 1.500-3.000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88000" y="4500000"/>
            <a:ext cx="6300000" cy="162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4500000"/>
            <a:ext cx="64800" cy="1620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999" y="4554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  <a:latin typeface="Calibri"/>
              </a:rPr>
              <a:t>RACCOMANDAZIONE (§7.2)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99" y="4770000"/>
            <a:ext cx="612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Streamlit per l'MVP e la produzione v1.0. Riconsiderare React+FastAPI solo se il sistema viene esteso a &gt; 30 utenti concorrenti o se nasce una richiesta concreta di white-labeling per terzi. La complessità funzionale del caso d'uso (CFO + 4-5 utenti tecnici + soci) è perfettamente coperta da Streamlit.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0" y="1062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Le 6 sezioni principali della UI (§7.3)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296000"/>
            <a:ext cx="5065200" cy="77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40000" y="1296000"/>
            <a:ext cx="64800" cy="77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6000" y="1350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1. Dashboard Executive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6000" y="1548000"/>
            <a:ext cx="48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KPI YTD (Ricavi, EBITDA, PFN, Margine commesse), grafici mensili, top 5 commesse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0000" y="2106000"/>
            <a:ext cx="5065200" cy="77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40000" y="2106000"/>
            <a:ext cx="64800" cy="77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6000" y="2160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2. Financials (CE/SP) mensilizzato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6000" y="2358000"/>
            <a:ext cx="48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Tabella mensile per voce vs Budget, drill-down al singolo movimento contabile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0" y="2916000"/>
            <a:ext cx="5065200" cy="77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40000" y="2916000"/>
            <a:ext cx="64800" cy="77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6000" y="2970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3. Analytics VDC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6000" y="3167999"/>
            <a:ext cx="48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Margini per commessa con filtri Stato/BU/Cliente, % avanzamento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0000" y="3726000"/>
            <a:ext cx="5065200" cy="77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40000" y="3726000"/>
            <a:ext cx="64800" cy="77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6000" y="3780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4. Quadrature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6000" y="3977999"/>
            <a:ext cx="48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Margini bottom-up € 914.614 vs EBITDA top-down € 291.438 = Delta € 623.176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40000" y="4536000"/>
            <a:ext cx="5065200" cy="77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40000" y="4536000"/>
            <a:ext cx="64800" cy="77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6000" y="4590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5. Tesoreria (Cashflow Forecast)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6000" y="4788000"/>
            <a:ext cx="48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12 mesi rolling: incassi previsti vs uscite, alert saldo cassa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5346000"/>
            <a:ext cx="5065200" cy="774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40000" y="5346000"/>
            <a:ext cx="64800" cy="77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6000" y="5400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6. Piano 5 Anni &amp; Family 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6000" y="5598000"/>
            <a:ext cx="48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3 scenari (Prudente/Base/Espansivo) + dividendi e flussi famiglia per socio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Piano di sviluppo per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9 step (0-8) per un effort totale di 125-155 giorni-uomo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§8 — Piano di sviluppo per Step (tabella riepilogativa)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1080000"/>
          <a:ext cx="116172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5220000"/>
                <a:gridCol w="1620000"/>
                <a:gridCol w="4129200"/>
              </a:tblGrid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Effort (gg-uomo)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Output principale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Database Design &amp; Data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10-12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Schema SQLite + Master CoA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Core Accounting + Master CoA + Import EXP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15-18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CE Secured 2025 quadrato con bilancio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ETL Airtable + ClickUp + Anagrafica Commesse/VDC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15-20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Anagrafica analitica completa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Accrual Engine + Recon Engine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18-22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Quadratura BU vs EBITDA (Delta € 623.176)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UI Financials + Analytics + Quadrature  → 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20-25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MVP usabile dal CFO  ★ Go-live MVP 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Tesoreria + Cashflow Forecast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12-15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Forecast cassa 12 mesi rolling + alert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Forecast Engine + Piano 5 Anni + Vista Famiglia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15-18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3 scenari interattivi + flussi famiglia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Onboarding DZ Costruzioni + Multiazienda + Consolidamento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12-15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Multiazienda live + alert art. 2482 c.c.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458181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B3A6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B3A6B"/>
                          </a:solidFill>
                          <a:latin typeface="Calibri"/>
                        </a:rPr>
                        <a:t>Hardening, sicurezza, backup,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B3A6B"/>
                          </a:solidFill>
                          <a:latin typeface="Calibri"/>
                        </a:rPr>
                        <a:t>8-10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B3A6B"/>
                          </a:solidFill>
                          <a:latin typeface="Calibri"/>
                        </a:rPr>
                        <a:t>Sistema in produzione  ★ Go-live PROD Q2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8190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B3A6B"/>
                          </a:solidFill>
                          <a:latin typeface="Calibri"/>
                        </a:rPr>
                        <a:t>TOTALE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B3A6B"/>
                          </a:solidFill>
                          <a:latin typeface="Calibri"/>
                        </a:rPr>
                        <a:t>125-155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1B3A6B"/>
                          </a:solidFill>
                          <a:latin typeface="Calibri"/>
                        </a:rPr>
                        <a:t>≈ 6-8 mesi calendar time con team part-time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Roadmap 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Gantt Q2 2026 → Q2 2027 con criteri Go/No-Go (M1-M5)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§10.1-§10.3 — Gantt, effort per ruolo,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62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Gantt per trimestri (§10.1)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332000"/>
            <a:ext cx="108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646464"/>
                </a:solidFill>
                <a:latin typeface="Calibri"/>
              </a:rPr>
              <a:t>Trimestre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1332000"/>
            <a:ext cx="918000" cy="21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1332000"/>
            <a:ext cx="918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6000" y="1332000"/>
            <a:ext cx="918000" cy="21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6000" y="1332000"/>
            <a:ext cx="918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1999" y="1332000"/>
            <a:ext cx="918000" cy="21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1999" y="1332000"/>
            <a:ext cx="918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8000" y="1332000"/>
            <a:ext cx="918000" cy="21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8000" y="1332000"/>
            <a:ext cx="918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 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4000" y="1332000"/>
            <a:ext cx="918000" cy="21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000" y="1332000"/>
            <a:ext cx="918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Q2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1602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0  Database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75999" y="1630800"/>
            <a:ext cx="864000" cy="14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00" y="1800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1  Core Accounting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75999" y="1828800"/>
            <a:ext cx="864000" cy="14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00" y="1998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2  ETL Airtable+ClickUp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11999" y="2026800"/>
            <a:ext cx="864000" cy="14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00" y="2196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3  Accrual + Recon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1999" y="2224800"/>
            <a:ext cx="864000" cy="14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00" y="2394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4  UI MVP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7999" y="2422800"/>
            <a:ext cx="864000" cy="1440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00" y="2591999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5  Tesoreria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4000" y="2620800"/>
            <a:ext cx="864000" cy="14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00" y="2789999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6  Forecast + Piano 5y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84000" y="2818799"/>
            <a:ext cx="864000" cy="14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00" y="2987999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7  Onboarding DZ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20000" y="3016799"/>
            <a:ext cx="864000" cy="14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00" y="3186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Step 8  Hardening + Deploy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20000" y="3214800"/>
            <a:ext cx="864000" cy="14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76000" y="2394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1A7A3C"/>
                </a:solidFill>
                <a:latin typeface="Calibri"/>
              </a:rPr>
              <a:t>★ MVP Q4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8000" y="3186000"/>
            <a:ext cx="1080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★ PROD Q2 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00" y="3491999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Effort totale per ruolo (§10.2)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288000" y="3726000"/>
          <a:ext cx="6300000" cy="201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1620000"/>
                <a:gridCol w="1440000"/>
              </a:tblGrid>
              <a:tr h="335999"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Ruolo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Effort (gg-uomo)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335999"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Sviluppatore senior (Python+Streamlit)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85-105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Backbone tecnico, DB, ETL,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9"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Data Engineer / Analista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22-25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Master CoA, mapping, qualità dato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35999"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CFO (interno o consulente esterno)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10-15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Workshop, validazione quadrature,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9"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Project Manager part-time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8-10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1A1A1A"/>
                          </a:solidFill>
                          <a:latin typeface="Calibri"/>
                        </a:rPr>
                        <a:t>Coordinamento, milestones, comunicazione famiglia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36004"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TOTALE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125-155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1B3A6B"/>
                          </a:solidFill>
                          <a:latin typeface="Calibri"/>
                        </a:rPr>
                        <a:t>≈ 6-8 mesi calendar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6840000" y="1062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Milestones e criteri Go/No-Go (§10.3)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40000" y="1296000"/>
            <a:ext cx="5065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40000" y="1296000"/>
            <a:ext cx="64800" cy="917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6000" y="1350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M1  fine Step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6000" y="1548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CE Secured 2025 ricostruito quadra con bilancio depositato (delta &lt; ±€100). No-Go se delta &gt; ±€500.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0" y="2253600"/>
            <a:ext cx="5065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40000" y="2253600"/>
            <a:ext cx="64800" cy="917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6000" y="23076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M2  fine Step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6000" y="25056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Recon Engine restituisce per Secured 2025 i numeri attesi. No-Go se Delta &gt; ±5% rispetto a € 623.176.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40000" y="3211200"/>
            <a:ext cx="5065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40000" y="3211200"/>
            <a:ext cx="64800" cy="917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6000" y="32652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M3  fine Step 4  ★ MVP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6000" y="3463199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MVP usato dal CFO per produrre il CE mensile senza Excel. No-Go se richiede &gt; 2 ore di rielaborazione manuale.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40000" y="4168800"/>
            <a:ext cx="5065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40000" y="4168800"/>
            <a:ext cx="64800" cy="917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66000" y="42228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M4  fine Step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6000" y="44208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Vista consolidato Gruppo operativa almeno per Secured + DZ. No-Go se mancano elisioni intercompany.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40000" y="5126400"/>
            <a:ext cx="5065200" cy="917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40000" y="5126400"/>
            <a:ext cx="64800" cy="917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66000" y="51804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M5  fine Step 8  ★ PROD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6000" y="53784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Produzione live, backup automatici, documentazione completa. No-Go se manca uno qualsiasi dei tre.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Rischi e Alert DZ Costruzioni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Top 5 della matrice rischi + alert critico DZ (art. 2482-bis/ter c.c.)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§9 — Criticità trasversali e rischi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62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Top 5 rischi (§9.1)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8000" y="1296000"/>
          <a:ext cx="116172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000"/>
                <a:gridCol w="900000"/>
                <a:gridCol w="900000"/>
                <a:gridCol w="4957200"/>
              </a:tblGrid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Rischio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Prob.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Impatto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Mitigazione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Qualità dato Airtable (costi senza data, doppi spazi, rollup errati)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392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E67E22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Pannello qualità dato + flag review_required + report giornaliero al 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Mapping CoA incompleto al T0 (catch-all &gt; 5%)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392B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A7A3C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Sprint dedicato post-primo import; SLA: zero righe catch-all entro T0+30 gg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DZ 2025 BOZZA usata per chiusure operative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E67E22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E67E22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Filigrana BOZZA su viste DZ 2025; sblocco solo dopo approvazione confermata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Art. 2482-bis/ter c.c. su DZ se perdita 2026 &gt; €10k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E67E22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392B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Monitoraggio Perdite/Capitale; copertura perdita 2025 con rinuncia finanz. soci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Sicurezza dati famiglia / finanziari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E67E22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392B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Ruoli applicativi (CFO, SOCIO, OPERATIVO); audit trail; backup cifrati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88000" y="4500000"/>
            <a:ext cx="11617200" cy="1655999"/>
          </a:xfrm>
          <a:prstGeom prst="rect">
            <a:avLst/>
          </a:prstGeom>
          <a:solidFill>
            <a:srgbClr val="FB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4500000"/>
            <a:ext cx="90000" cy="165599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4572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🔴  ALERT CRITICO — DZ COSTRUZIONI Srl  (§9.2)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20000" y="4572000"/>
            <a:ext cx="2015999" cy="25199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00" y="4572000"/>
            <a:ext cx="2015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DZ 2025 BOZZA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824000"/>
            <a:ext cx="1134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0392B"/>
                </a:solidFill>
                <a:latin typeface="Calibri"/>
              </a:rPr>
              <a:t>Situazione attuale (BOZZA bilancio 2025):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• PN residuo: € 42.098    • Capitale sociale: € 10.000    • Perdita 2025: -€ 82.923    • Finanz. soci infruttifero (Fausto): € 50.500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50" b="1">
                <a:solidFill>
                  <a:srgbClr val="C0392B"/>
                </a:solidFill>
                <a:latin typeface="Calibri"/>
              </a:rPr>
              <a:t>Trigger normativo: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Se nel 2026 si dovesse ripetere una perdita &gt; € 10.000, il PN DZ scenderebbe sotto 1/3 del capitale sociale  →  obbligo art. 2482-bis/ter c.c.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050" b="1">
                <a:solidFill>
                  <a:srgbClr val="C0392B"/>
                </a:solidFill>
                <a:latin typeface="Calibri"/>
              </a:rPr>
              <a:t>Azione preventiva: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Copertura perdita 2025 con rinuncia al finanziamento soci o ricapitalizzazione da parte del socio Fausto entro l'approvazione del bilancio.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08000"/>
            <a:ext cx="108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Costi e prossimi passi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03999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1F5"/>
                </a:solidFill>
                <a:latin typeface="Calibri"/>
              </a:rPr>
              <a:t>Stima a corpo dello sviluppo + 4 azioni immediate per il kickoff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6000"/>
            <a:ext cx="12193200" cy="25199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" y="6624000"/>
            <a:ext cx="79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Rif. §10.4-§10.5 — Costi indicativi e Prossimi passi immediati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3199" y="6624000"/>
            <a:ext cx="576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 i="0">
                <a:solidFill>
                  <a:srgbClr val="646464"/>
                </a:solidFill>
                <a:latin typeface="Calibri"/>
              </a:rPr>
              <a:t>Mistretta Group OS · Piano di Sviluppo · Riservato e Confidenziale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62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Costi indicativi totali (§10.4)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332000"/>
            <a:ext cx="3060000" cy="97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00" y="1332000"/>
            <a:ext cx="3060000" cy="5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1404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6464"/>
                </a:solidFill>
                <a:latin typeface="Calibri"/>
              </a:rPr>
              <a:t>Sviluppo (una tantum)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1566000"/>
            <a:ext cx="2988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Calibri"/>
              </a:rPr>
              <a:t>€ 50.000 – 75.000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1890000"/>
            <a:ext cx="29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6464"/>
                </a:solidFill>
                <a:latin typeface="Calibri"/>
              </a:rPr>
              <a:t>125-155 gg-uomo × tariffa media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000" y="1332000"/>
            <a:ext cx="3060000" cy="97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000" y="1332000"/>
            <a:ext cx="3060000" cy="54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0000" y="1404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6464"/>
                </a:solidFill>
                <a:latin typeface="Calibri"/>
              </a:rPr>
              <a:t>Hosting (annuo)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1999" y="1566000"/>
            <a:ext cx="2988000" cy="30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2E6FB7"/>
                </a:solidFill>
                <a:latin typeface="Calibri"/>
              </a:rPr>
              <a:t>€ 600 / anno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999" y="1890000"/>
            <a:ext cx="29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6464"/>
                </a:solidFill>
                <a:latin typeface="Calibri"/>
              </a:rPr>
              <a:t>Streamlit Cloud + object storage backup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2412000"/>
            <a:ext cx="6228000" cy="162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2466000"/>
            <a:ext cx="61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Note di costo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2682000"/>
            <a:ext cx="6120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A1A1A"/>
                </a:solidFill>
                <a:latin typeface="Calibri"/>
              </a:rPr>
              <a:t>• Stima a corpo, da convalidare dopo approvazione del documento.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• Esclusi i costi di consulenza CFO esterna se viene mantenuta in essere.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• Calendar time atteso: 6-8 mesi con team part-time.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• Investimento abilita una traiettoria EBITDA Gruppo da € 335 k (2026) a € 693 k (2030, scenario Base).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• Hosting molto contenuto grazie alla scelta Streamlit (vs €1.500-3.000 annui per stack React+FastAPI).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4140000"/>
            <a:ext cx="6228000" cy="2015999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4194000"/>
            <a:ext cx="61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6B"/>
                </a:solidFill>
                <a:latin typeface="Calibri"/>
              </a:rPr>
              <a:t>Valore atteso a fine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410000"/>
            <a:ext cx="6120000" cy="174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B3A6B"/>
                </a:solidFill>
                <a:latin typeface="Calibri"/>
              </a:rPr>
              <a:t>• Quadratura Generale ↔ Analitica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garantita engine-side (oggi gestita manualmente da CFO esterno).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Chiusura mensile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prodotta dal sistema senza ricorrere a Excel.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Forecast 12 mesi rolling + Piano 5 anni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con 3 scenari interattivi.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Onboarding nativo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di DZ, Holding, Nexa (multiazienda by design).</a:t>
            </a:r>
          </a:p>
          <a:p>
            <a:r>
              <a:rPr sz="1050" b="1">
                <a:solidFill>
                  <a:srgbClr val="1B3A6B"/>
                </a:solidFill>
                <a:latin typeface="Calibri"/>
              </a:rPr>
              <a:t>• Vista Famiglia riservata </a:t>
            </a:r>
          </a:p>
          <a:p>
            <a:r>
              <a:rPr sz="1050" b="0">
                <a:solidFill>
                  <a:srgbClr val="1A1A1A"/>
                </a:solidFill>
                <a:latin typeface="Calibri"/>
              </a:rPr>
              <a:t>  con dividendi e flussi per socio (Fausto/Aldo/Eugenio).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0000" y="1062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Prossimi passi immediati (§10.5)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296000"/>
            <a:ext cx="5065200" cy="115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40000" y="1296000"/>
            <a:ext cx="64800" cy="1152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83999" y="1386000"/>
            <a:ext cx="503999" cy="503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3999" y="1386000"/>
            <a:ext cx="503999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6000" y="1386000"/>
            <a:ext cx="34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Approvazione del presente documento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52000" y="1386000"/>
            <a:ext cx="827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1">
                <a:solidFill>
                  <a:srgbClr val="2E6FB7"/>
                </a:solidFill>
                <a:latin typeface="Calibri"/>
              </a:rPr>
              <a:t>1 settimana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6000" y="1674000"/>
            <a:ext cx="42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da parte della Famiglia Mistretta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40000" y="2498400"/>
            <a:ext cx="5065200" cy="115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40000" y="2498400"/>
            <a:ext cx="64800" cy="1152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83999" y="2588400"/>
            <a:ext cx="503999" cy="503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3999" y="2588400"/>
            <a:ext cx="503999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6000" y="2588400"/>
            <a:ext cx="34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Workshop Master CoA con CFO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52000" y="2588400"/>
            <a:ext cx="827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1">
                <a:solidFill>
                  <a:srgbClr val="2E6FB7"/>
                </a:solidFill>
                <a:latin typeface="Calibri"/>
              </a:rPr>
              <a:t>1 giornata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6000" y="2876399"/>
            <a:ext cx="42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per congelare la versione 1 del piano dei conti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40000" y="3700800"/>
            <a:ext cx="5065200" cy="115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40000" y="3700800"/>
            <a:ext cx="64800" cy="1152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83999" y="3790800"/>
            <a:ext cx="503999" cy="503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83999" y="3790800"/>
            <a:ext cx="503999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96000" y="3790800"/>
            <a:ext cx="34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Selezione del team di sviluppo + firma SOW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52000" y="3790800"/>
            <a:ext cx="827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1">
                <a:solidFill>
                  <a:srgbClr val="2E6FB7"/>
                </a:solidFill>
                <a:latin typeface="Calibri"/>
              </a:rPr>
              <a:t>1-2 settimane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96000" y="4078800"/>
            <a:ext cx="42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Sviluppatore senior + Data Engineer + 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40000" y="4903200"/>
            <a:ext cx="5065200" cy="115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40000" y="4903200"/>
            <a:ext cx="64800" cy="1152000"/>
          </a:xfrm>
          <a:prstGeom prst="rect">
            <a:avLst/>
          </a:prstGeom>
          <a:solidFill>
            <a:srgbClr val="2E6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3999" y="4993200"/>
            <a:ext cx="503999" cy="503999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83999" y="4993200"/>
            <a:ext cx="503999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96000" y="4993200"/>
            <a:ext cx="3420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B3A6B"/>
                </a:solidFill>
                <a:latin typeface="Calibri"/>
              </a:rPr>
              <a:t>Avvio Step 0 con kickoff formale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52000" y="4993200"/>
            <a:ext cx="827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1">
                <a:solidFill>
                  <a:srgbClr val="2E6FB7"/>
                </a:solidFill>
                <a:latin typeface="Calibri"/>
              </a:rPr>
              <a:t>T0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96000" y="5281200"/>
            <a:ext cx="428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Database Design &amp; Data Modeling — primi 10-12 gg-uomo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